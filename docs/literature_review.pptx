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AC2E3-1EAD-E62E-55D8-2B2FE749D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87789-7867-6258-45C8-BB2666A98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25302-A367-5ABA-0311-89192D92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A826-003C-446A-BD2C-BA070BF7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669FD-67CA-F99F-520D-F6138639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04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CC21-27A7-104C-A1F7-5F1CEDA3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BBBD-1CE9-7B62-5920-3875E3C08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55317-807E-3D45-6D45-D7798D95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9186-64E4-0AFC-6F30-874EFFD8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D3A05-E56D-4EA8-0164-56B16F49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87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C504-2307-D3D7-0FED-4A24114D2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CEB35-3B94-1A77-50D3-D3432431C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FDA07-EB55-A287-4BBC-84B2CC40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211B6-E52A-06A3-EFB4-BEFC43AC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6387C-5C07-7B9C-10EB-5352CDDC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9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DF7F-686A-A81E-8005-400AFD28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8990-20C6-9701-6A9E-9EEB64DEC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557D8-A813-D67D-074E-22752D5C8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A9EC2-7EFA-425A-431A-067123F8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03EA-4014-1F38-9ED1-1445663B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3D493-819F-F3B6-F023-45425614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7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0E5C-8724-134D-256E-AFF31E34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61571-B598-CA74-8F68-868291CE2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0D37-9E75-3E37-E21D-FB4B2A857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64451-6012-31A5-AEC0-EFD52B0A0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77B30-23A6-762B-C266-F24BB405B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DFAA70-3398-6299-E4B0-BAFB8EF2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3C9A3-BA87-C2AF-D660-21A90F70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8FBC9-356F-A5BA-27E0-3B3BF526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92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31D5-53F7-5A69-1EC9-262FE9B5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1539F-43CF-1E38-2F6A-9A2EC1AD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C5F7F-A4C4-9FD5-DAC0-D1F1621D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36F1C-8C8F-E231-5E87-D1438E6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5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A160D-CA78-7EF1-F6EE-F06E0586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F7FCA-0A12-1B60-A4EA-DAFF92BA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30584-D0E6-197F-433F-FFDDFAE0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6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B6F0-C6C7-581F-B0C4-319AD1EF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10451-8A3D-1022-701C-FDB1238A6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653F4-F603-A614-7CC3-AEEE508F4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D375-8655-927E-3EEE-E19A3BEA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8401E-9876-09F9-7F8D-B185D3D8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B2510-5B7C-DDC3-C44A-17C6A522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8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522A-96DB-C9E0-B38E-A3974F12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8F36D-88B3-6634-88B6-FC4B26A0E0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3BBCC-C08C-28D2-8465-D2E9A71BC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6ECEA-A921-9CA5-489E-321D48C4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B89F-001A-52B1-8FD7-A453EC9C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01EB-8AF9-47E8-3B54-FD484D83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91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7941-3976-AC34-8CE6-08EA5FD1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42DCD-5EE0-61BB-BB4A-B258EF46C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AE51-6DC7-9E64-166F-351C5F4C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C1BCD-FF80-3904-3B27-A55EE012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019D8-4815-0F0B-3E8F-8A302CE1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99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69B05-D472-8D7B-9B17-2AF2DE257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DA427-9EFE-A584-735B-F25AE6988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9AFE-BA12-600F-03C5-4997D6A93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693C6-43D8-EAF5-9F3A-E6AD67F8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463E-6874-4E1B-4E0F-735904DA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11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F1803-CDA4-66B5-E3B5-C70CE80C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E8AC3-BC26-EB05-23A6-FADB16932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8BB9A-CF2D-F5D6-44B0-4B72B5895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B19BD-8A3E-40EA-96DC-2A6F64D1DD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B88F2-1555-A531-EC88-4CC923B8D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FB6E6-0B86-552D-AE6C-C7FE835CC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36443-1FC3-4A1D-B12D-60A397648D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06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367165-6D5A-6D7C-599E-D5C862E0A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787984"/>
              </p:ext>
            </p:extLst>
          </p:nvPr>
        </p:nvGraphicFramePr>
        <p:xfrm>
          <a:off x="667160" y="515809"/>
          <a:ext cx="10528061" cy="41677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9400">
                  <a:extLst>
                    <a:ext uri="{9D8B030D-6E8A-4147-A177-3AD203B41FA5}">
                      <a16:colId xmlns:a16="http://schemas.microsoft.com/office/drawing/2014/main" val="3953359833"/>
                    </a:ext>
                  </a:extLst>
                </a:gridCol>
                <a:gridCol w="1748848">
                  <a:extLst>
                    <a:ext uri="{9D8B030D-6E8A-4147-A177-3AD203B41FA5}">
                      <a16:colId xmlns:a16="http://schemas.microsoft.com/office/drawing/2014/main" val="3030652466"/>
                    </a:ext>
                  </a:extLst>
                </a:gridCol>
                <a:gridCol w="1620598">
                  <a:extLst>
                    <a:ext uri="{9D8B030D-6E8A-4147-A177-3AD203B41FA5}">
                      <a16:colId xmlns:a16="http://schemas.microsoft.com/office/drawing/2014/main" val="1572612501"/>
                    </a:ext>
                  </a:extLst>
                </a:gridCol>
                <a:gridCol w="1912073">
                  <a:extLst>
                    <a:ext uri="{9D8B030D-6E8A-4147-A177-3AD203B41FA5}">
                      <a16:colId xmlns:a16="http://schemas.microsoft.com/office/drawing/2014/main" val="714045845"/>
                    </a:ext>
                  </a:extLst>
                </a:gridCol>
                <a:gridCol w="1608940">
                  <a:extLst>
                    <a:ext uri="{9D8B030D-6E8A-4147-A177-3AD203B41FA5}">
                      <a16:colId xmlns:a16="http://schemas.microsoft.com/office/drawing/2014/main" val="3317840822"/>
                    </a:ext>
                  </a:extLst>
                </a:gridCol>
                <a:gridCol w="2728202">
                  <a:extLst>
                    <a:ext uri="{9D8B030D-6E8A-4147-A177-3AD203B41FA5}">
                      <a16:colId xmlns:a16="http://schemas.microsoft.com/office/drawing/2014/main" val="297869851"/>
                    </a:ext>
                  </a:extLst>
                </a:gridCol>
              </a:tblGrid>
              <a:tr h="8666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 dirty="0" err="1">
                          <a:effectLst/>
                        </a:rPr>
                        <a:t>Year&amp;Ref</a:t>
                      </a:r>
                      <a:endParaRPr lang="en-IN" sz="1700" dirty="0">
                        <a:effectLst/>
                      </a:endParaRPr>
                    </a:p>
                  </a:txBody>
                  <a:tcPr marL="90956" marR="90956" marT="90956" marB="9095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Module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Approach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Tools / Techniques 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Dataset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Key Findings 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 anchor="ctr"/>
                </a:tc>
                <a:extLst>
                  <a:ext uri="{0D108BD9-81ED-4DB2-BD59-A6C34878D82A}">
                    <a16:rowId xmlns:a16="http://schemas.microsoft.com/office/drawing/2014/main" val="2227202529"/>
                  </a:ext>
                </a:extLst>
              </a:tr>
              <a:tr h="14119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2021 [1]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Terrain Estimation (Restricted, No-Go, Very Slow Go, Slow Go, Go)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DEM + AHP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Remote Sensing &amp; GIS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Sentinel-2, ALOS PALSAR, Soil Maps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Generated Trafficability &amp; Zone Classification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extLst>
                  <a:ext uri="{0D108BD9-81ED-4DB2-BD59-A6C34878D82A}">
                    <a16:rowId xmlns:a16="http://schemas.microsoft.com/office/drawing/2014/main" val="1031133704"/>
                  </a:ext>
                </a:extLst>
              </a:tr>
              <a:tr h="9445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2019[2]</a:t>
                      </a:r>
                      <a:endParaRPr lang="en-IN" sz="1700" dirty="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Path Finding Algorithms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TNDG + PTFR + DTMC + KSP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PRISM Model Checker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Real-time traffic data (GPS, Sensors)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Improved emergency path selection with high probability</a:t>
                      </a:r>
                      <a:endParaRPr lang="en-IN" sz="1700" dirty="0">
                        <a:effectLst/>
                      </a:endParaRPr>
                    </a:p>
                  </a:txBody>
                  <a:tcPr marL="90956" marR="90956" marT="90956" marB="90956"/>
                </a:tc>
                <a:extLst>
                  <a:ext uri="{0D108BD9-81ED-4DB2-BD59-A6C34878D82A}">
                    <a16:rowId xmlns:a16="http://schemas.microsoft.com/office/drawing/2014/main" val="2264727062"/>
                  </a:ext>
                </a:extLst>
              </a:tr>
              <a:tr h="9445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2022 [3]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Vehicle Characterization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Deep Learning (Object Detection)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Tiny YOLO v3, SSD MobileNet v2 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Google Maps + ISRO Bhuvan (6 classes)</a:t>
                      </a:r>
                      <a:endParaRPr lang="en-IN" sz="1700">
                        <a:effectLst/>
                      </a:endParaRPr>
                    </a:p>
                  </a:txBody>
                  <a:tcPr marL="90956" marR="90956" marT="90956" marB="90956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Robust to occlusion (82.3%) and lighting changes</a:t>
                      </a:r>
                      <a:endParaRPr lang="en-IN" sz="1700" dirty="0">
                        <a:effectLst/>
                      </a:endParaRPr>
                    </a:p>
                  </a:txBody>
                  <a:tcPr marL="90956" marR="90956" marT="90956" marB="90956"/>
                </a:tc>
                <a:extLst>
                  <a:ext uri="{0D108BD9-81ED-4DB2-BD59-A6C34878D82A}">
                    <a16:rowId xmlns:a16="http://schemas.microsoft.com/office/drawing/2014/main" val="1455880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4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ED8F72-F621-789D-10C3-F158DD49D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867360"/>
              </p:ext>
            </p:extLst>
          </p:nvPr>
        </p:nvGraphicFramePr>
        <p:xfrm>
          <a:off x="851770" y="551145"/>
          <a:ext cx="10346497" cy="58120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9066">
                  <a:extLst>
                    <a:ext uri="{9D8B030D-6E8A-4147-A177-3AD203B41FA5}">
                      <a16:colId xmlns:a16="http://schemas.microsoft.com/office/drawing/2014/main" val="1861472130"/>
                    </a:ext>
                  </a:extLst>
                </a:gridCol>
                <a:gridCol w="1089105">
                  <a:extLst>
                    <a:ext uri="{9D8B030D-6E8A-4147-A177-3AD203B41FA5}">
                      <a16:colId xmlns:a16="http://schemas.microsoft.com/office/drawing/2014/main" val="1672041624"/>
                    </a:ext>
                  </a:extLst>
                </a:gridCol>
                <a:gridCol w="1900377">
                  <a:extLst>
                    <a:ext uri="{9D8B030D-6E8A-4147-A177-3AD203B41FA5}">
                      <a16:colId xmlns:a16="http://schemas.microsoft.com/office/drawing/2014/main" val="2267690264"/>
                    </a:ext>
                  </a:extLst>
                </a:gridCol>
                <a:gridCol w="1622544">
                  <a:extLst>
                    <a:ext uri="{9D8B030D-6E8A-4147-A177-3AD203B41FA5}">
                      <a16:colId xmlns:a16="http://schemas.microsoft.com/office/drawing/2014/main" val="1964163797"/>
                    </a:ext>
                  </a:extLst>
                </a:gridCol>
                <a:gridCol w="2256003">
                  <a:extLst>
                    <a:ext uri="{9D8B030D-6E8A-4147-A177-3AD203B41FA5}">
                      <a16:colId xmlns:a16="http://schemas.microsoft.com/office/drawing/2014/main" val="2807517201"/>
                    </a:ext>
                  </a:extLst>
                </a:gridCol>
                <a:gridCol w="2589402">
                  <a:extLst>
                    <a:ext uri="{9D8B030D-6E8A-4147-A177-3AD203B41FA5}">
                      <a16:colId xmlns:a16="http://schemas.microsoft.com/office/drawing/2014/main" val="2839565023"/>
                    </a:ext>
                  </a:extLst>
                </a:gridCol>
              </a:tblGrid>
              <a:tr h="8152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Year&amp;Ref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Module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Approach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Tools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Dataset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Key Findings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 anchor="ctr"/>
                </a:tc>
                <a:extLst>
                  <a:ext uri="{0D108BD9-81ED-4DB2-BD59-A6C34878D82A}">
                    <a16:rowId xmlns:a16="http://schemas.microsoft.com/office/drawing/2014/main" val="623997207"/>
                  </a:ext>
                </a:extLst>
              </a:tr>
              <a:tr h="153454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2024 [7]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Terrain Estimation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DEM, MCDA, AHP, Weighted Overlay Analysis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Remote Sensing (RS), Geographic Information System (GIS), QGIS 3.40, Raster Calculator </a:t>
                      </a:r>
                      <a:endParaRPr lang="en-IN" sz="1700" dirty="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Sentinel-2 Land Use/Land Cover (10 m), SRTM DEM (30 m), OpenStreetMap (OSM) road network, Soil depth survey, Soil texture survey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Developed a GIS-AHP land suitability model.</a:t>
                      </a:r>
                      <a:endParaRPr lang="en-IN" sz="17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Slope and soil texture were the key influencing factors.</a:t>
                      </a:r>
                      <a:endParaRPr lang="en-IN" sz="170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Identified optimal zones for sustainable machinery operation.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extLst>
                  <a:ext uri="{0D108BD9-81ED-4DB2-BD59-A6C34878D82A}">
                    <a16:rowId xmlns:a16="http://schemas.microsoft.com/office/drawing/2014/main" val="599746376"/>
                  </a:ext>
                </a:extLst>
              </a:tr>
              <a:tr h="12947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2025 [6]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Path Finding Algorithms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Multi-Objective Optimization for Multimodal Multi-Objective Multi-Point Shortest Path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Path similarity-based multimodal solutions selection strategy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IEEE CEC Path Planning datasets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Highlights the potential for designing more resilient path planners suitable for scenarios affected by unpredictable road eventualities.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extLst>
                  <a:ext uri="{0D108BD9-81ED-4DB2-BD59-A6C34878D82A}">
                    <a16:rowId xmlns:a16="http://schemas.microsoft.com/office/drawing/2014/main" val="2459268294"/>
                  </a:ext>
                </a:extLst>
              </a:tr>
              <a:tr h="87277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2026 [8]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Terrain Estimation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DEM analysis, Slope &amp; Elevation Mapping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GIS, Remote Sensing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DEM-derived Elevation and Slope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Climate and soil factors were identified as the dominant controls on land capability 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extLst>
                  <a:ext uri="{0D108BD9-81ED-4DB2-BD59-A6C34878D82A}">
                    <a16:rowId xmlns:a16="http://schemas.microsoft.com/office/drawing/2014/main" val="1018102464"/>
                  </a:ext>
                </a:extLst>
              </a:tr>
              <a:tr h="12947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2026 [6]</a:t>
                      </a:r>
                      <a:endParaRPr lang="en-IN" sz="1700" dirty="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Transfer Learning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YOLOv8 transfer learning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Different terrain scenarios, off-road  track  identification  and  segmentation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dataset comprising terrain-specific snow and off-road scenes</a:t>
                      </a:r>
                      <a:endParaRPr lang="en-IN" sz="1700">
                        <a:effectLst/>
                      </a:endParaRPr>
                    </a:p>
                  </a:txBody>
                  <a:tcPr marL="89755" marR="89755" marT="89755" marB="89755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Efficiency in snow regions for identifying unstructured tracks,</a:t>
                      </a:r>
                      <a:endParaRPr lang="en-IN" sz="1700" dirty="0">
                        <a:effectLst/>
                      </a:endParaRPr>
                    </a:p>
                  </a:txBody>
                  <a:tcPr marL="89755" marR="89755" marT="89755" marB="89755"/>
                </a:tc>
                <a:extLst>
                  <a:ext uri="{0D108BD9-81ED-4DB2-BD59-A6C34878D82A}">
                    <a16:rowId xmlns:a16="http://schemas.microsoft.com/office/drawing/2014/main" val="346611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96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BC88D-977D-2E8C-A075-D5C0800C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775"/>
            <a:ext cx="10515600" cy="56911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700" dirty="0"/>
              <a:t>[1] Khan MN, Kashif M, Shah A. Off-road trafficability for military operations using multi-criteria decision analysis. International Journal of Advanced Remote Sensing and GIS. 2021 Mar 16;10(1):3425-37. </a:t>
            </a:r>
          </a:p>
          <a:p>
            <a:pPr marL="0" indent="0">
              <a:buNone/>
            </a:pPr>
            <a:r>
              <a:rPr lang="en-IN" sz="1700" dirty="0"/>
              <a:t>[2] </a:t>
            </a:r>
            <a:r>
              <a:rPr lang="en-IN" sz="1700" dirty="0" err="1"/>
              <a:t>Honghao</a:t>
            </a:r>
            <a:r>
              <a:rPr lang="en-IN" sz="1700" dirty="0"/>
              <a:t> Gao, </a:t>
            </a:r>
            <a:r>
              <a:rPr lang="en-IN" sz="1700" dirty="0" err="1"/>
              <a:t>Wanqiu</a:t>
            </a:r>
            <a:r>
              <a:rPr lang="en-IN" sz="1700" dirty="0"/>
              <a:t> Huang, and </a:t>
            </a:r>
            <a:r>
              <a:rPr lang="en-IN" sz="1700" dirty="0" err="1"/>
              <a:t>Xiaoxian</a:t>
            </a:r>
            <a:r>
              <a:rPr lang="en-IN" sz="1700" dirty="0"/>
              <a:t> Yang. 2019. Applying Probabilistic Model Checking to Path Planning in an Intelligent Transportation System Using Mobility Trajectories and Their Statistical Data. Intelligent Automation &amp; Soft Computing 25, 3 (2019).</a:t>
            </a:r>
          </a:p>
          <a:p>
            <a:pPr marL="0" indent="0">
              <a:buNone/>
            </a:pPr>
            <a:r>
              <a:rPr lang="en-IN" sz="1700" dirty="0"/>
              <a:t>[3] Gupta P, Pareek B, Singal G, Rao DV. Edge device-based military vehicle detection and classification from UAV. Multimedia Tools and Applications. 2022 Jun;81(14):19813-34.</a:t>
            </a:r>
          </a:p>
          <a:p>
            <a:pPr marL="0" indent="0">
              <a:buNone/>
            </a:pPr>
            <a:r>
              <a:rPr lang="en-IN" sz="1700" dirty="0"/>
              <a:t>[6] Zhiwei Xu et al. “Multi-objective optimization for multimodal multi- objective multi-point shortest path problem considering unforeseeable road eventualities”. In: IEEE Transactions on Intelligent Transportation Systems (2025).</a:t>
            </a:r>
          </a:p>
          <a:p>
            <a:pPr marL="0" indent="0">
              <a:buNone/>
            </a:pPr>
            <a:r>
              <a:rPr lang="en-IN" sz="1700" dirty="0"/>
              <a:t>[7] Dutta A, Banerjee M, Ray R. Land capability assessment of Sali watershed for agricultural suitability using a multi-criteria-based decision-making approach. Environmental Monitoring and Assessment. 2024 Mar;196(3):237.</a:t>
            </a:r>
          </a:p>
          <a:p>
            <a:pPr marL="0" indent="0">
              <a:buNone/>
            </a:pPr>
            <a:r>
              <a:rPr lang="en-IN" sz="1700" dirty="0"/>
              <a:t>[8]</a:t>
            </a:r>
            <a:r>
              <a:rPr lang="en-IN" sz="1700" b="0" dirty="0">
                <a:effectLst/>
              </a:rPr>
              <a:t> </a:t>
            </a:r>
            <a:r>
              <a:rPr lang="en-IN" sz="1700" dirty="0"/>
              <a:t>Mema O, </a:t>
            </a:r>
            <a:r>
              <a:rPr lang="en-IN" sz="1700" dirty="0" err="1"/>
              <a:t>Jojie</a:t>
            </a:r>
            <a:r>
              <a:rPr lang="en-IN" sz="1700" dirty="0"/>
              <a:t> E, Laze P, </a:t>
            </a:r>
            <a:r>
              <a:rPr lang="en-IN" sz="1700" dirty="0" err="1"/>
              <a:t>Vorpsi</a:t>
            </a:r>
            <a:r>
              <a:rPr lang="en-IN" sz="1700" dirty="0"/>
              <a:t> V, Vata N, </a:t>
            </a:r>
            <a:r>
              <a:rPr lang="en-IN" sz="1700" dirty="0" err="1"/>
              <a:t>Salillari</a:t>
            </a:r>
            <a:r>
              <a:rPr lang="en-IN" sz="1700" dirty="0"/>
              <a:t> I. Optimizing Land Management: A GIS-Based Model for Sustainable Agricultural Machinery Operation in </a:t>
            </a:r>
            <a:r>
              <a:rPr lang="en-IN" sz="1700" dirty="0" err="1"/>
              <a:t>Frakulla</a:t>
            </a:r>
            <a:r>
              <a:rPr lang="en-IN" sz="1700" dirty="0"/>
              <a:t> Administrative Unit, Albania. International Journal of Geoinformatics. 2026 Mar 28;22(3):51-69.</a:t>
            </a:r>
            <a:br>
              <a:rPr lang="en-IN" sz="2100" dirty="0"/>
            </a:br>
            <a:endParaRPr lang="en-IN" sz="2100" b="0" dirty="0">
              <a:effectLst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88585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572</Words>
  <Application>Microsoft Office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Anuwedita  Singh</dc:creator>
  <cp:lastModifiedBy>Anuwedita  Singh</cp:lastModifiedBy>
  <cp:revision>3</cp:revision>
  <dcterms:created xsi:type="dcterms:W3CDTF">2026-10-21T10:59:42Z</dcterms:created>
  <dcterms:modified xsi:type="dcterms:W3CDTF">2026-10-21T11:59:06Z</dcterms:modified>
</cp:coreProperties>
</file>